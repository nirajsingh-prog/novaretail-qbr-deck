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E2761"/>
                </a:solidFill>
              </a:rPr>
              <a:t>Revenue by Region (US$ 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420.0</c:v>
                </c:pt>
                <c:pt idx="1">
                  <c:v>460.0</c:v>
                </c:pt>
                <c:pt idx="2">
                  <c:v>440.0</c:v>
                </c:pt>
                <c:pt idx="3">
                  <c:v>465.0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7A8FA6"/>
            </a:solidFill>
          </c:spP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310.0</c:v>
                </c:pt>
                <c:pt idx="1">
                  <c:v>350.0</c:v>
                </c:pt>
                <c:pt idx="2">
                  <c:v>330.0</c:v>
                </c:pt>
                <c:pt idx="3">
                  <c:v>345.0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spPr>
            <a:solidFill>
              <a:srgbClr val="0E9F8B"/>
            </a:solidFill>
          </c:spP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260.0</c:v>
                </c:pt>
                <c:pt idx="1">
                  <c:v>300.0</c:v>
                </c:pt>
                <c:pt idx="2">
                  <c:v>305.0</c:v>
                </c:pt>
                <c:pt idx="3">
                  <c:v>330.0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D9534F"/>
            </a:solidFill>
          </c:spP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150.0</c:v>
                </c:pt>
                <c:pt idx="1">
                  <c:v>165.0</c:v>
                </c:pt>
                <c:pt idx="2">
                  <c:v>150.0</c:v>
                </c:pt>
                <c:pt idx="3">
                  <c:v>140.0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5CE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444B5A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E2761"/>
                </a:solidFill>
              </a:rPr>
              <a:t>Net Promoter Score by Region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4925">
              <a:solidFill>
                <a:srgbClr val="1E2761"/>
              </a:solidFill>
            </a:ln>
          </c:spPr>
          <c:marker>
            <c:symbol val="circle"/>
            <c:size val="7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52.0</c:v>
                </c:pt>
                <c:pt idx="1">
                  <c:v>54.0</c:v>
                </c:pt>
                <c:pt idx="2">
                  <c:v>53.0</c:v>
                </c:pt>
                <c:pt idx="3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34925">
              <a:solidFill>
                <a:srgbClr val="7A8FA6"/>
              </a:solidFill>
            </a:ln>
          </c:spPr>
          <c:marker>
            <c:symbol val="circle"/>
            <c:size val="7"/>
            <c:spPr>
              <a:solidFill>
                <a:srgbClr val="7A8FA6"/>
              </a:solidFill>
              <a:ln>
                <a:solidFill>
                  <a:srgbClr val="7A8FA6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48.0</c:v>
                </c:pt>
                <c:pt idx="1">
                  <c:v>50.0</c:v>
                </c:pt>
                <c:pt idx="2">
                  <c:v>51.0</c:v>
                </c:pt>
                <c:pt idx="3">
                  <c:v>53.0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spPr>
            <a:ln w="34925">
              <a:solidFill>
                <a:srgbClr val="0E9F8B"/>
              </a:solidFill>
            </a:ln>
          </c:spPr>
          <c:marker>
            <c:symbol val="circle"/>
            <c:size val="7"/>
            <c:spPr>
              <a:solidFill>
                <a:srgbClr val="0E9F8B"/>
              </a:solidFill>
              <a:ln>
                <a:solidFill>
                  <a:srgbClr val="0E9F8B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58.0</c:v>
                </c:pt>
                <c:pt idx="1">
                  <c:v>60.0</c:v>
                </c:pt>
                <c:pt idx="2">
                  <c:v>61.0</c:v>
                </c:pt>
                <c:pt idx="3">
                  <c:v>62.0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34925">
              <a:solidFill>
                <a:srgbClr val="D9534F"/>
              </a:solidFill>
            </a:ln>
          </c:spPr>
          <c:marker>
            <c:symbol val="circle"/>
            <c:size val="7"/>
            <c:spPr>
              <a:solidFill>
                <a:srgbClr val="D9534F"/>
              </a:solidFill>
              <a:ln>
                <a:solidFill>
                  <a:srgbClr val="D9534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38.0</c:v>
                </c:pt>
                <c:pt idx="1">
                  <c:v>35.0</c:v>
                </c:pt>
                <c:pt idx="2">
                  <c:v>32.0</c:v>
                </c:pt>
                <c:pt idx="3">
                  <c:v>29.0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5CE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6E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444B5A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E2761"/>
                </a:solidFill>
              </a:rPr>
              <a:t>Stockout Rate by Region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4925">
              <a:solidFill>
                <a:srgbClr val="1E2761"/>
              </a:solidFill>
            </a:ln>
          </c:spPr>
          <c:marker>
            <c:symbol val="circle"/>
            <c:size val="7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</c:v>
                </c:pt>
                <c:pt idx="1">
                  <c:v>5.0</c:v>
                </c:pt>
                <c:pt idx="2">
                  <c:v>4.0</c:v>
                </c:pt>
                <c:pt idx="3">
                  <c:v>3.8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34925">
              <a:solidFill>
                <a:srgbClr val="7A8FA6"/>
              </a:solidFill>
            </a:ln>
          </c:spPr>
          <c:marker>
            <c:symbol val="circle"/>
            <c:size val="7"/>
            <c:spPr>
              <a:solidFill>
                <a:srgbClr val="7A8FA6"/>
              </a:solidFill>
              <a:ln>
                <a:solidFill>
                  <a:srgbClr val="7A8FA6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4.0</c:v>
                </c:pt>
                <c:pt idx="1">
                  <c:v>4.5</c:v>
                </c:pt>
                <c:pt idx="2">
                  <c:v>4.2</c:v>
                </c:pt>
                <c:pt idx="3">
                  <c:v>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spPr>
            <a:ln w="34925">
              <a:solidFill>
                <a:srgbClr val="0E9F8B"/>
              </a:solidFill>
            </a:ln>
          </c:spPr>
          <c:marker>
            <c:symbol val="circle"/>
            <c:size val="7"/>
            <c:spPr>
              <a:solidFill>
                <a:srgbClr val="0E9F8B"/>
              </a:solidFill>
              <a:ln>
                <a:solidFill>
                  <a:srgbClr val="0E9F8B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6.0</c:v>
                </c:pt>
                <c:pt idx="1">
                  <c:v>7.5</c:v>
                </c:pt>
                <c:pt idx="2">
                  <c:v>8.0</c:v>
                </c:pt>
                <c:pt idx="3">
                  <c:v>8.5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34925">
              <a:solidFill>
                <a:srgbClr val="D9534F"/>
              </a:solidFill>
            </a:ln>
          </c:spPr>
          <c:marker>
            <c:symbol val="circle"/>
            <c:size val="7"/>
            <c:spPr>
              <a:solidFill>
                <a:srgbClr val="D9534F"/>
              </a:solidFill>
              <a:ln>
                <a:solidFill>
                  <a:srgbClr val="D9534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9.0</c:v>
                </c:pt>
                <c:pt idx="1">
                  <c:v>10.5</c:v>
                </c:pt>
                <c:pt idx="2">
                  <c:v>11.0</c:v>
                </c:pt>
                <c:pt idx="3">
                  <c:v>12.5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5CE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6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444B5A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NovaRetail — Quarterly Business Review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500" i="0">
                <a:solidFill>
                  <a:srgbClr val="CADCFC"/>
                </a:solidFill>
                <a:latin typeface="Calibri"/>
              </a:rPr>
              <a:t>Q2 2026 Quarterly Business Review  |  Executive Readout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3200" i="0" b="1">
                <a:solidFill>
                  <a:srgbClr val="FFFFFF"/>
                </a:solidFill>
                <a:latin typeface="Cambria"/>
              </a:rPr>
              <a:t>$1.28B</a:t>
            </a:r>
            <a:endParaRPr lang="en-US" sz="3200" dirty="0"/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 i="0">
                <a:solidFill>
                  <a:srgbClr val="CADCFC"/>
                </a:solidFill>
                <a:latin typeface="Calibri"/>
              </a:rPr>
              <a:t>Total Revenue, Q2 2026</a:t>
            </a:r>
            <a:endParaRPr lang="en-US" sz="1100" dirty="0"/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3200" i="0" b="1">
                <a:solidFill>
                  <a:srgbClr val="FFFFFF"/>
                </a:solidFill>
                <a:latin typeface="Cambria"/>
              </a:rPr>
              <a:t>+12.3%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 i="0">
                <a:solidFill>
                  <a:srgbClr val="CADCFC"/>
                </a:solidFill>
                <a:latin typeface="Calibri"/>
              </a:rPr>
              <a:t>Revenue Growth vs Q3 2025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3200" i="0" b="1">
                <a:solidFill>
                  <a:srgbClr val="FFFFFF"/>
                </a:solidFill>
                <a:latin typeface="Cambria"/>
              </a:rPr>
              <a:t>53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 i="0">
                <a:solidFill>
                  <a:srgbClr val="CADCFC"/>
                </a:solidFill>
                <a:latin typeface="Calibri"/>
              </a:rPr>
              <a:t>Blended NPS (revenue-weighted)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800" i="0">
                <a:solidFill>
                  <a:srgbClr val="FFFFFF"/>
                </a:solidFill>
                <a:latin typeface="Calibri"/>
              </a:rPr>
              <a:t>NovaRetail closed Q2 2026 at $1.28B in revenue, up 12.3% versus Q3 2025 and 4.5% quarter-on-quarter. APAC is the standout, growing revenue 27% while holding the highest NPS (62). Latin America is moving the other way: revenue is down 7%, NPS has fallen to 29 and stockouts have reached 12.5%. The biggest risk this quarter is fulfilment: APAC warehouses are running at 92% capacity just as demand there accelerates.</a:t>
            </a:r>
            <a:endParaRPr lang="en-US" sz="18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Q2 2026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9" name="icon_globe_region" descr="globe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314" y="3981114"/>
            <a:ext cx="1392084" cy="13920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2400" i="0" b="1">
                <a:solidFill>
                  <a:srgbClr val="1E2761"/>
                </a:solidFill>
                <a:latin typeface="Cambria"/>
              </a:rPr>
              <a:t>APAC Leads Growth (+27%) While Latin America Contracts (−7%)</a:t>
            </a:r>
            <a:endParaRPr lang="en-US" sz="24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APAC grew revenue from $260M to $330M (+27%), the fastest of any region, on +23% units.</a:t>
            </a:r>
            <a:endParaRPr lang="en-US" sz="1350" dirty="0"/>
          </a:p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North America remains the largest market at $465M, 36% of group revenue, growing a steady 11%.</a:t>
            </a:r>
          </a:p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Latin America is the only declining region (−7%); units fell 9% and returns rose to 8.2%, roughly double other regions.</a:t>
            </a:r>
          </a:p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Q4 2025 marketing spend jumped 39% to $132M for only a 12% revenue lift; spend has since reset to $96M.</a:t>
            </a:r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Q2 2026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graphicFrame>
        <p:nvGraphicFramePr>
          <p:cNvPr id="10" name="Revenue_USD_M_chart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icon_growth_chart" descr="growth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229453"/>
            <a:ext cx="925374" cy="9253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2400" i="0" b="1">
                <a:solidFill>
                  <a:srgbClr val="1E2761"/>
                </a:solidFill>
                <a:latin typeface="Cambria"/>
              </a:rPr>
              <a:t>APAC Sets the Customer Benchmark as Latin America NPS Falls 9 Points</a:t>
            </a:r>
            <a:endParaRPr lang="en-US" sz="24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APAC leads on every CX measure: NPS 62, CSAT 92% and 2.2-day average delivery.</a:t>
            </a:r>
            <a:endParaRPr lang="en-US" sz="1350" dirty="0"/>
          </a:p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Europe is the most improved region, with NPS up 5 points as delivery fell to 3.2 days.</a:t>
            </a:r>
          </a:p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Latin America is deteriorating: NPS 38 → 29, CSAT 80% → 74%.</a:t>
            </a:r>
          </a:p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Slower delivery (5.5 → 7.5 days) is driving a 55% rise in Latin America support tickets.</a:t>
            </a:r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Q2 2026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graphicFrame>
        <p:nvGraphicFramePr>
          <p:cNvPr id="10" name="NPS_chart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icon_customer_star" descr="customer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229453"/>
            <a:ext cx="925374" cy="925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2400" i="0" b="1">
                <a:solidFill>
                  <a:srgbClr val="1E2761"/>
                </a:solidFill>
                <a:latin typeface="Cambria"/>
              </a:rPr>
              <a:t>Supply-Chain Strain Is Building in Latin America and APAC</a:t>
            </a:r>
            <a:endParaRPr lang="en-US" sz="24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Latin America stockouts climbed to 12.5% (+3.5 pts since Q3 2025), the highest in the group.</a:t>
            </a:r>
            <a:endParaRPr lang="en-US" sz="1350" dirty="0"/>
          </a:p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APAC warehouses are at 92% capacity with stockouts at 8.5%, leaving no headroom for continued growth.</a:t>
            </a:r>
          </a:p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Latin America fraud incidents rose 67% to 30 per quarter, the highest of any region.</a:t>
            </a:r>
          </a:p>
          <a:p>
            <a:pPr algn="l" indent="-228600" marL="228600">
              <a:spcAft>
                <a:spcPts val="607"/>
              </a:spcAft>
              <a:buChar char="•"/>
            </a:pPr>
            <a:r>
              <a:rPr sz="1350" i="0">
                <a:solidFill>
                  <a:srgbClr val="1E2761"/>
                </a:solidFill>
                <a:latin typeface="Calibri"/>
              </a:rPr>
              <a:t>Return processing in Latin America now takes 10 days vs 5 or fewer elsewhere, compounding the CX decline.</a:t>
            </a:r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Q2 2026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graphicFrame>
        <p:nvGraphicFramePr>
          <p:cNvPr id="10" name="Stockout_Rate_pct_chart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icon_risk_alert" descr="risk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229453"/>
            <a:ext cx="925374" cy="9253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228600" marL="228600">
              <a:spcAft>
                <a:spcPts val="720"/>
              </a:spcAft>
              <a:buChar char="•"/>
            </a:pPr>
            <a:r>
              <a:rPr sz="1600" i="0" b="1">
                <a:solidFill>
                  <a:srgbClr val="FFFFFF"/>
                </a:solidFill>
                <a:latin typeface="Calibri"/>
              </a:rPr>
              <a:t>Expand</a:t>
            </a:r>
            <a:r>
              <a:rPr sz="1600" i="0" b="0">
                <a:solidFill>
                  <a:srgbClr val="FFFFFF"/>
                </a:solidFill>
                <a:latin typeface="Calibri"/>
              </a:rPr>
              <a:t> APAC fulfilment capacity before peak season, targeting utilisation below 85% (now 92%) to protect +27% growth.</a:t>
            </a:r>
            <a:endParaRPr lang="en-US" sz="1600" dirty="0"/>
          </a:p>
          <a:p>
            <a:pPr algn="l" indent="-228600" marL="228600">
              <a:spcAft>
                <a:spcPts val="720"/>
              </a:spcAft>
              <a:buChar char="•"/>
            </a:pPr>
            <a:r>
              <a:rPr sz="1600" i="0" b="1">
                <a:solidFill>
                  <a:srgbClr val="FFFFFF"/>
                </a:solidFill>
                <a:latin typeface="Calibri"/>
              </a:rPr>
              <a:t>Launch</a:t>
            </a:r>
            <a:r>
              <a:rPr sz="1600" i="0" b="0">
                <a:solidFill>
                  <a:srgbClr val="FFFFFF"/>
                </a:solidFill>
                <a:latin typeface="Calibri"/>
              </a:rPr>
              <a:t> a Latin America recovery plan to cut delivery from 7.5 to under 5 days and returns processing from 10 days.</a:t>
            </a:r>
          </a:p>
          <a:p>
            <a:pPr algn="l" indent="-228600" marL="228600">
              <a:spcAft>
                <a:spcPts val="720"/>
              </a:spcAft>
              <a:buChar char="•"/>
            </a:pPr>
            <a:r>
              <a:rPr sz="1600" i="0" b="1">
                <a:solidFill>
                  <a:srgbClr val="FFFFFF"/>
                </a:solidFill>
                <a:latin typeface="Calibri"/>
              </a:rPr>
              <a:t>Tighten</a:t>
            </a:r>
            <a:r>
              <a:rPr sz="1600" i="0" b="0">
                <a:solidFill>
                  <a:srgbClr val="FFFFFF"/>
                </a:solidFill>
                <a:latin typeface="Calibri"/>
              </a:rPr>
              <a:t> fraud controls in Latin America, where incidents are up 67% to 30 per quarter.</a:t>
            </a:r>
          </a:p>
          <a:p>
            <a:pPr algn="l" indent="-228600" marL="228600">
              <a:spcAft>
                <a:spcPts val="720"/>
              </a:spcAft>
              <a:buChar char="•"/>
            </a:pPr>
            <a:r>
              <a:rPr sz="1600" i="0" b="1">
                <a:solidFill>
                  <a:srgbClr val="FFFFFF"/>
                </a:solidFill>
                <a:latin typeface="Calibri"/>
              </a:rPr>
              <a:t>Pre-position</a:t>
            </a:r>
            <a:r>
              <a:rPr sz="1600" i="0" b="0">
                <a:solidFill>
                  <a:srgbClr val="FFFFFF"/>
                </a:solidFill>
                <a:latin typeface="Calibri"/>
              </a:rPr>
              <a:t> inventory ahead of Q4: last Q4 average stockouts rose 1.2 pts as warehouses peaked.</a:t>
            </a:r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200" i="0" b="1">
                <a:solidFill>
                  <a:srgbClr val="CADCFC"/>
                </a:solidFill>
                <a:latin typeface="Calibri"/>
              </a:rPr>
              <a:t>Protect the growth engine in APAC, fix the fundamentals in Latin America, and review progress at the Q3 2026 QBR.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Q2 2026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9" name="icon_lightbulb_action" descr="lightbulb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302" y="1550822"/>
            <a:ext cx="1287476" cy="12874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